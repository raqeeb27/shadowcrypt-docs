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8" r:id="rId3"/>
    <p:sldId id="329" r:id="rId4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7" userDrawn="1">
          <p15:clr>
            <a:srgbClr val="A4A3A4"/>
          </p15:clr>
        </p15:guide>
        <p15:guide id="2" pos="2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47"/>
        <p:guide pos="2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Bahnschrift" panose="020B0502040204020203"/>
                <a:cs typeface="Bahnschrift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Bahnschrift" panose="020B0502040204020203"/>
                <a:cs typeface="Bahnschrift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bg1"/>
                </a:solidFill>
                <a:latin typeface="Bahnschrift" panose="020B0502040204020203"/>
                <a:cs typeface="Bahnschrift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78019" y="2801238"/>
            <a:ext cx="3235960" cy="1250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bg1"/>
                </a:solidFill>
                <a:latin typeface="Bahnschrift" panose="020B0502040204020203"/>
                <a:cs typeface="Bahnschrift" panose="020B05020402040202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2150" y="1149032"/>
            <a:ext cx="9267698" cy="1725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bg1"/>
                </a:solidFill>
                <a:latin typeface="Lucida Sans Unicode" panose="020B0602030504020204"/>
                <a:cs typeface="Lucida Sans Unicode" panose="020B0602030504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49914" y="6292881"/>
            <a:ext cx="419100" cy="517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 u="heavy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8100">
              <a:lnSpc>
                <a:spcPts val="3645"/>
              </a:lnSpc>
            </a:pPr>
            <a:fld id="{81D60167-4931-47E6-BA6A-407CBD079E47}" type="slidenum">
              <a:rPr spc="-390" dirty="0"/>
            </a:fld>
            <a:endParaRPr spc="-39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object 2"/>
          <p:cNvPicPr/>
          <p:nvPr/>
        </p:nvPicPr>
        <p:blipFill>
          <a:blip r:embed="rId1" cstate="print"/>
          <a:srcRect l="5985" t="9520" r="6487" b="9401"/>
          <a:stretch>
            <a:fillRect/>
          </a:stretch>
        </p:blipFill>
        <p:spPr>
          <a:xfrm>
            <a:off x="0" y="-45085"/>
            <a:ext cx="12200890" cy="694817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endCxn id="2" idx="1"/>
          </p:cNvCxnSpPr>
          <p:nvPr/>
        </p:nvCxnSpPr>
        <p:spPr>
          <a:xfrm>
            <a:off x="1028700" y="2286000"/>
            <a:ext cx="1274445" cy="63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40640" y="557530"/>
            <a:ext cx="3766185" cy="3479800"/>
            <a:chOff x="64" y="158"/>
            <a:chExt cx="5931" cy="5480"/>
          </a:xfrm>
        </p:grpSpPr>
        <p:pic>
          <p:nvPicPr>
            <p:cNvPr id="4" name="Picture 3" descr="C:/Users/Abdul/Downloads/image.pngimage"/>
            <p:cNvPicPr>
              <a:picLocks noChangeAspect="1"/>
            </p:cNvPicPr>
            <p:nvPr/>
          </p:nvPicPr>
          <p:blipFill>
            <a:blip r:embed="rId2"/>
            <a:srcRect l="2390" r="2390"/>
            <a:stretch>
              <a:fillRect/>
            </a:stretch>
          </p:blipFill>
          <p:spPr>
            <a:xfrm>
              <a:off x="64" y="2004"/>
              <a:ext cx="1674" cy="1757"/>
            </a:xfrm>
            <a:prstGeom prst="rect">
              <a:avLst/>
            </a:prstGeom>
          </p:spPr>
        </p:pic>
        <p:sp>
          <p:nvSpPr>
            <p:cNvPr id="11" name="Text Box 10"/>
            <p:cNvSpPr txBox="1"/>
            <p:nvPr/>
          </p:nvSpPr>
          <p:spPr>
            <a:xfrm>
              <a:off x="1413" y="2317"/>
              <a:ext cx="184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IN" altLang="en-US" sz="2000" b="1">
                  <a:solidFill>
                    <a:schemeClr val="bg1"/>
                  </a:solidFill>
                </a:rPr>
                <a:t>Ctrl + C</a:t>
              </a:r>
              <a:endParaRPr lang="en-IN" altLang="en-US" sz="2000" b="1">
                <a:solidFill>
                  <a:schemeClr val="bg1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983" y="158"/>
              <a:ext cx="3012" cy="5480"/>
              <a:chOff x="2983" y="158"/>
              <a:chExt cx="3012" cy="5480"/>
            </a:xfrm>
          </p:grpSpPr>
          <p:pic>
            <p:nvPicPr>
              <p:cNvPr id="2" name="Picture 1" descr="C:/Users/Abdul/Downloads/image (1).pngimage (1)"/>
              <p:cNvPicPr>
                <a:picLocks noChangeAspect="1"/>
              </p:cNvPicPr>
              <p:nvPr/>
            </p:nvPicPr>
            <p:blipFill>
              <a:blip r:embed="rId3"/>
              <a:srcRect l="2370" r="2370"/>
              <a:stretch>
                <a:fillRect/>
              </a:stretch>
            </p:blipFill>
            <p:spPr>
              <a:xfrm>
                <a:off x="3627" y="2004"/>
                <a:ext cx="1689" cy="1772"/>
              </a:xfrm>
              <a:prstGeom prst="rect">
                <a:avLst/>
              </a:prstGeom>
            </p:spPr>
          </p:pic>
          <p:sp>
            <p:nvSpPr>
              <p:cNvPr id="6" name="Rectangles 5"/>
              <p:cNvSpPr/>
              <p:nvPr/>
            </p:nvSpPr>
            <p:spPr>
              <a:xfrm>
                <a:off x="2983" y="158"/>
                <a:ext cx="3012" cy="5481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Text Box 6"/>
              <p:cNvSpPr txBox="1"/>
              <p:nvPr/>
            </p:nvSpPr>
            <p:spPr>
              <a:xfrm>
                <a:off x="3072" y="340"/>
                <a:ext cx="2835" cy="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sz="2600" b="1" u="sng">
                    <a:solidFill>
                      <a:schemeClr val="bg1"/>
                    </a:solidFill>
                  </a:rPr>
                  <a:t>User Layer</a:t>
                </a:r>
                <a:endParaRPr lang="en-IN" altLang="en-US" sz="2600" b="1" u="sng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 Box 11"/>
              <p:cNvSpPr txBox="1"/>
              <p:nvPr/>
            </p:nvSpPr>
            <p:spPr>
              <a:xfrm>
                <a:off x="3072" y="3823"/>
                <a:ext cx="283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IN" altLang="en-US" b="1">
                    <a:solidFill>
                      <a:schemeClr val="bg1"/>
                    </a:solidFill>
                  </a:rPr>
                  <a:t>privacy.docx.lnk</a:t>
                </a:r>
                <a:endParaRPr lang="en-IN" altLang="en-US" b="1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" name="Rectangles 12"/>
          <p:cNvSpPr/>
          <p:nvPr/>
        </p:nvSpPr>
        <p:spPr>
          <a:xfrm>
            <a:off x="6066790" y="1396365"/>
            <a:ext cx="2096770" cy="163957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>
                <a:solidFill>
                  <a:schemeClr val="bg1"/>
                </a:solidFill>
              </a:rPr>
              <a:t>Clipboard Monitor</a:t>
            </a:r>
            <a:endParaRPr lang="en-IN" altLang="en-US" sz="3200" b="1">
              <a:solidFill>
                <a:schemeClr val="bg1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528060" y="1538605"/>
            <a:ext cx="2538730" cy="749300"/>
            <a:chOff x="5316" y="2423"/>
            <a:chExt cx="3998" cy="118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5316" y="3603"/>
              <a:ext cx="3998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Text Box 16"/>
            <p:cNvSpPr txBox="1"/>
            <p:nvPr/>
          </p:nvSpPr>
          <p:spPr>
            <a:xfrm>
              <a:off x="5827" y="2423"/>
              <a:ext cx="3485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sz="2000" b="1">
                  <a:solidFill>
                    <a:schemeClr val="bg1"/>
                  </a:solidFill>
                  <a:sym typeface="+mn-ea"/>
                </a:rPr>
                <a:t>Detect and Parse .lnk</a:t>
              </a:r>
              <a:endParaRPr lang="en-IN" altLang="en-US" sz="2000" b="1">
                <a:solidFill>
                  <a:schemeClr val="bg1"/>
                </a:solidFill>
                <a:sym typeface="+mn-ea"/>
              </a:endParaRPr>
            </a:p>
          </p:txBody>
        </p:sp>
      </p:grpSp>
      <p:cxnSp>
        <p:nvCxnSpPr>
          <p:cNvPr id="21" name="Straight Arrow Connector 20"/>
          <p:cNvCxnSpPr>
            <a:stCxn id="13" idx="3"/>
          </p:cNvCxnSpPr>
          <p:nvPr/>
        </p:nvCxnSpPr>
        <p:spPr>
          <a:xfrm flipV="1">
            <a:off x="8163560" y="2209800"/>
            <a:ext cx="1666240" cy="63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 Box 24"/>
          <p:cNvSpPr txBox="1"/>
          <p:nvPr/>
        </p:nvSpPr>
        <p:spPr>
          <a:xfrm>
            <a:off x="8263255" y="1515110"/>
            <a:ext cx="1448435" cy="895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>
                <a:solidFill>
                  <a:schemeClr val="bg1"/>
                </a:solidFill>
              </a:rPr>
              <a:t>Check ‘hash’ in arguments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3429000" y="4906645"/>
            <a:ext cx="1840230" cy="113665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2400" b="1">
                <a:solidFill>
                  <a:schemeClr val="bg1"/>
                </a:solidFill>
              </a:rPr>
              <a:t>Show Copied Toast</a:t>
            </a:r>
            <a:endParaRPr lang="en-IN" altLang="en-US" sz="2400" b="1">
              <a:solidFill>
                <a:schemeClr val="bg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784975" y="4355465"/>
            <a:ext cx="3171825" cy="206311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2600" b="1" u="sng">
                <a:solidFill>
                  <a:schemeClr val="bg1"/>
                </a:solidFill>
              </a:rPr>
              <a:t>Save Details of .lnk</a:t>
            </a:r>
            <a:endParaRPr lang="en-IN" altLang="en-US" sz="2600" b="1" u="sng">
              <a:solidFill>
                <a:schemeClr val="bg1"/>
              </a:solidFill>
            </a:endParaRPr>
          </a:p>
          <a:p>
            <a:pPr algn="ctr"/>
            <a:endParaRPr lang="en-IN" altLang="en-US" sz="1400" b="1" u="sng">
              <a:solidFill>
                <a:schemeClr val="bg1"/>
              </a:solidFill>
            </a:endParaRPr>
          </a:p>
          <a:p>
            <a:pPr algn="ctr"/>
            <a:r>
              <a:rPr lang="en-IN" altLang="en-US" sz="2400" b="1">
                <a:solidFill>
                  <a:schemeClr val="bg1"/>
                </a:solidFill>
              </a:rPr>
              <a:t>Save </a:t>
            </a:r>
            <a:r>
              <a:rPr lang="en-US" altLang="en-US" sz="2400" b="1">
                <a:solidFill>
                  <a:schemeClr val="bg1"/>
                </a:solidFill>
              </a:rPr>
              <a:t>to temp memory + </a:t>
            </a:r>
            <a:r>
              <a:rPr lang="en-IN" altLang="en-US" sz="2400" b="1">
                <a:solidFill>
                  <a:schemeClr val="bg1"/>
                </a:solidFill>
              </a:rPr>
              <a:t>S</a:t>
            </a:r>
            <a:r>
              <a:rPr lang="en-US" altLang="en-US" sz="2400" b="1">
                <a:solidFill>
                  <a:schemeClr val="bg1"/>
                </a:solidFill>
              </a:rPr>
              <a:t>tart</a:t>
            </a:r>
            <a:r>
              <a:rPr lang="en-IN" altLang="en-US" sz="2400" b="1">
                <a:solidFill>
                  <a:schemeClr val="bg1"/>
                </a:solidFill>
              </a:rPr>
              <a:t> expiry</a:t>
            </a:r>
            <a:r>
              <a:rPr lang="en-US" altLang="en-US" sz="2400" b="1">
                <a:solidFill>
                  <a:schemeClr val="bg1"/>
                </a:solidFill>
              </a:rPr>
              <a:t> timer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76" name="Text Box 75"/>
          <p:cNvSpPr txBox="1"/>
          <p:nvPr/>
        </p:nvSpPr>
        <p:spPr>
          <a:xfrm>
            <a:off x="5257800" y="99060"/>
            <a:ext cx="3185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3200" b="1" u="sng">
                <a:solidFill>
                  <a:schemeClr val="bg1"/>
                </a:solidFill>
                <a:latin typeface="High Tower Text" panose="02040502050506030303" charset="0"/>
                <a:cs typeface="High Tower Text" panose="02040502050506030303" charset="0"/>
              </a:rPr>
              <a:t>Copy Process</a:t>
            </a:r>
            <a:endParaRPr lang="en-IN" altLang="en-US" sz="3200" b="1" u="sng">
              <a:solidFill>
                <a:schemeClr val="bg1"/>
              </a:solidFill>
              <a:latin typeface="High Tower Text" panose="02040502050506030303" charset="0"/>
              <a:cs typeface="High Tower Text" panose="020405020505060303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9730105" y="749300"/>
            <a:ext cx="209740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600" b="1" u="sng">
                <a:solidFill>
                  <a:schemeClr val="bg1"/>
                </a:solidFill>
              </a:rPr>
              <a:t>Extract shortcut</a:t>
            </a:r>
            <a:endParaRPr lang="en-US" altLang="en-US" sz="2600" b="1" u="sng">
              <a:solidFill>
                <a:schemeClr val="bg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11385" y="633730"/>
            <a:ext cx="1912620" cy="2568575"/>
          </a:xfrm>
          <a:prstGeom prst="rect">
            <a:avLst/>
          </a:prstGeom>
          <a:noFill/>
          <a:ln w="19050">
            <a:solidFill>
              <a:schemeClr val="bg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10053955" y="1791335"/>
            <a:ext cx="1593215" cy="1124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IN" altLang="en-US" sz="2000" b="1">
                <a:solidFill>
                  <a:schemeClr val="bg1"/>
                </a:solidFill>
              </a:rPr>
              <a:t>- Arguments</a:t>
            </a:r>
            <a:endParaRPr lang="en-IN" altLang="en-US" sz="2000" b="1">
              <a:solidFill>
                <a:schemeClr val="bg1"/>
              </a:solidFill>
            </a:endParaRPr>
          </a:p>
          <a:p>
            <a:pPr algn="l"/>
            <a:r>
              <a:rPr lang="en-IN" altLang="en-US" sz="2000" b="1">
                <a:solidFill>
                  <a:schemeClr val="bg1"/>
                </a:solidFill>
              </a:rPr>
              <a:t>- Target</a:t>
            </a:r>
            <a:endParaRPr lang="en-IN" altLang="en-US" sz="2000" b="1">
              <a:solidFill>
                <a:schemeClr val="bg1"/>
              </a:solidFill>
            </a:endParaRPr>
          </a:p>
          <a:p>
            <a:pPr algn="l"/>
            <a:r>
              <a:rPr lang="en-IN" altLang="en-US" sz="2000" b="1">
                <a:solidFill>
                  <a:schemeClr val="bg1"/>
                </a:solidFill>
              </a:rPr>
              <a:t>- Icon</a:t>
            </a:r>
            <a:endParaRPr lang="en-IN" altLang="en-US" sz="2000" b="1">
              <a:solidFill>
                <a:schemeClr val="bg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0896600" y="3200400"/>
            <a:ext cx="0" cy="2286000"/>
          </a:xfrm>
          <a:prstGeom prst="straightConnector1">
            <a:avLst/>
          </a:prstGeom>
          <a:ln>
            <a:solidFill>
              <a:schemeClr val="bg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5989320" y="4737735"/>
            <a:ext cx="7620" cy="150114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9941560" y="5466715"/>
            <a:ext cx="955040" cy="1968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Text Box 41"/>
          <p:cNvSpPr txBox="1"/>
          <p:nvPr/>
        </p:nvSpPr>
        <p:spPr>
          <a:xfrm>
            <a:off x="5927090" y="3043555"/>
            <a:ext cx="239522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b="1">
                <a:solidFill>
                  <a:schemeClr val="bg1"/>
                </a:solidFill>
              </a:rPr>
              <a:t>[Background Service]</a:t>
            </a:r>
            <a:endParaRPr lang="en-US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object 2"/>
          <p:cNvPicPr/>
          <p:nvPr/>
        </p:nvPicPr>
        <p:blipFill>
          <a:blip r:embed="rId1" cstate="print"/>
          <a:srcRect l="5985" t="9520" r="6487" b="9401"/>
          <a:stretch>
            <a:fillRect/>
          </a:stretch>
        </p:blipFill>
        <p:spPr>
          <a:xfrm>
            <a:off x="0" y="-45085"/>
            <a:ext cx="12200890" cy="6948170"/>
          </a:xfrm>
          <a:prstGeom prst="rect">
            <a:avLst/>
          </a:prstGeom>
        </p:spPr>
      </p:pic>
      <p:pic>
        <p:nvPicPr>
          <p:cNvPr id="4" name="Picture 3" descr="C:/Users/Abdul/Downloads/image.pngimage"/>
          <p:cNvPicPr>
            <a:picLocks noChangeAspect="1"/>
          </p:cNvPicPr>
          <p:nvPr/>
        </p:nvPicPr>
        <p:blipFill>
          <a:blip r:embed="rId2"/>
          <a:srcRect l="2390" r="2390"/>
          <a:stretch>
            <a:fillRect/>
          </a:stretch>
        </p:blipFill>
        <p:spPr>
          <a:xfrm>
            <a:off x="-35560" y="967740"/>
            <a:ext cx="1062990" cy="1115695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1760855" y="291465"/>
            <a:ext cx="2122170" cy="2619375"/>
          </a:xfrm>
          <a:prstGeom prst="rect">
            <a:avLst/>
          </a:prstGeom>
          <a:noFill/>
          <a:ln w="19050">
            <a:solidFill>
              <a:schemeClr val="bg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950720" y="292100"/>
            <a:ext cx="180022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600" b="1" u="sng">
                <a:solidFill>
                  <a:schemeClr val="bg1"/>
                </a:solidFill>
              </a:rPr>
              <a:t>User Layer</a:t>
            </a:r>
            <a:endParaRPr lang="en-IN" altLang="en-US" sz="2600" b="1" u="sng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914400" y="1524000"/>
            <a:ext cx="83820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821055" y="1166495"/>
            <a:ext cx="1172845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2000" b="1">
                <a:solidFill>
                  <a:schemeClr val="bg1"/>
                </a:solidFill>
              </a:rPr>
              <a:t>Ctrl + V</a:t>
            </a:r>
            <a:endParaRPr lang="en-IN" altLang="en-US" sz="2000" b="1">
              <a:solidFill>
                <a:schemeClr val="bg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950720" y="2199005"/>
            <a:ext cx="1799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chemeClr val="bg1"/>
                </a:solidFill>
              </a:rPr>
              <a:t>Destination Folder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4800600" y="1145540"/>
            <a:ext cx="2312035" cy="137096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sz="3200" b="1">
                <a:solidFill>
                  <a:schemeClr val="bg1"/>
                </a:solidFill>
              </a:rPr>
              <a:t>Clipboard Monitor</a:t>
            </a:r>
            <a:endParaRPr lang="en-IN" altLang="en-US" sz="3200" b="1">
              <a:solidFill>
                <a:schemeClr val="bg1"/>
              </a:solidFill>
            </a:endParaRPr>
          </a:p>
          <a:p>
            <a:pPr algn="ctr"/>
            <a:endParaRPr lang="en-IN" altLang="en-US" sz="200" b="1">
              <a:solidFill>
                <a:schemeClr val="bg1"/>
              </a:solidFill>
            </a:endParaRPr>
          </a:p>
          <a:p>
            <a:pPr algn="ctr"/>
            <a:endParaRPr lang="en-IN" altLang="en-US" sz="200" b="1">
              <a:solidFill>
                <a:schemeClr val="bg1"/>
              </a:solidFill>
              <a:sym typeface="+mn-ea"/>
            </a:endParaRPr>
          </a:p>
          <a:p>
            <a:pPr algn="ctr"/>
            <a:r>
              <a:rPr lang="en-IN" altLang="en-US" b="1">
                <a:solidFill>
                  <a:schemeClr val="bg1"/>
                </a:solidFill>
                <a:sym typeface="+mn-ea"/>
              </a:rPr>
              <a:t>Check valid clipboard</a:t>
            </a:r>
            <a:endParaRPr lang="en-IN" altLang="en-US" b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886200" y="1828800"/>
            <a:ext cx="91440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Picture 17" descr="C:/Users/Abdul/Downloads/image (2).pngimage (2)"/>
          <p:cNvPicPr>
            <a:picLocks noChangeAspect="1"/>
          </p:cNvPicPr>
          <p:nvPr/>
        </p:nvPicPr>
        <p:blipFill>
          <a:blip r:embed="rId3"/>
          <a:srcRect t="35" b="35"/>
          <a:stretch>
            <a:fillRect/>
          </a:stretch>
        </p:blipFill>
        <p:spPr>
          <a:xfrm>
            <a:off x="10340975" y="798830"/>
            <a:ext cx="918210" cy="114173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9744075" y="227965"/>
            <a:ext cx="20974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600" b="1" u="sng">
                <a:solidFill>
                  <a:schemeClr val="bg1"/>
                </a:solidFill>
              </a:rPr>
              <a:t>Temp Path</a:t>
            </a:r>
            <a:endParaRPr lang="en-IN" altLang="en-US" sz="2600" b="1" u="sng">
              <a:solidFill>
                <a:schemeClr val="bg1"/>
              </a:solidFill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875520" y="1980565"/>
            <a:ext cx="179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chemeClr val="bg1"/>
                </a:solidFill>
                <a:sym typeface="+mn-ea"/>
              </a:rPr>
              <a:t>mar27q35.dll</a:t>
            </a:r>
            <a:endParaRPr lang="en-IN" altLang="en-US" b="1">
              <a:solidFill>
                <a:schemeClr val="bg1"/>
              </a:solidFill>
              <a:sym typeface="+mn-ea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999345" y="259080"/>
            <a:ext cx="1611630" cy="2159635"/>
          </a:xfrm>
          <a:prstGeom prst="rect">
            <a:avLst/>
          </a:prstGeom>
          <a:noFill/>
          <a:ln w="19050">
            <a:solidFill>
              <a:schemeClr val="bg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6" name="Text Box 75"/>
          <p:cNvSpPr txBox="1"/>
          <p:nvPr/>
        </p:nvSpPr>
        <p:spPr>
          <a:xfrm>
            <a:off x="4953000" y="22860"/>
            <a:ext cx="31851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3200" b="1" u="sng">
                <a:solidFill>
                  <a:schemeClr val="bg1"/>
                </a:solidFill>
                <a:latin typeface="High Tower Text" panose="02040502050506030303" charset="0"/>
                <a:cs typeface="High Tower Text" panose="02040502050506030303" charset="0"/>
              </a:rPr>
              <a:t>Paste Process</a:t>
            </a:r>
            <a:endParaRPr lang="en-IN" altLang="en-US" sz="3200" b="1" u="sng">
              <a:solidFill>
                <a:schemeClr val="bg1"/>
              </a:solidFill>
              <a:latin typeface="High Tower Text" panose="02040502050506030303" charset="0"/>
              <a:cs typeface="High Tower Text" panose="02040502050506030303" charset="0"/>
            </a:endParaRPr>
          </a:p>
        </p:txBody>
      </p:sp>
      <p:pic>
        <p:nvPicPr>
          <p:cNvPr id="8" name="Picture 7" descr="image (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480" y="969645"/>
            <a:ext cx="1487170" cy="1198245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>
            <a:off x="8991600" y="1524000"/>
            <a:ext cx="990600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6" name="Picture 25" descr="C:/Users/Abdul/Downloads/image (2).pngimage (2)"/>
          <p:cNvPicPr>
            <a:picLocks noChangeAspect="1"/>
          </p:cNvPicPr>
          <p:nvPr/>
        </p:nvPicPr>
        <p:blipFill>
          <a:blip r:embed="rId3"/>
          <a:srcRect t="35" b="35"/>
          <a:stretch>
            <a:fillRect/>
          </a:stretch>
        </p:blipFill>
        <p:spPr>
          <a:xfrm>
            <a:off x="10435590" y="4629785"/>
            <a:ext cx="918210" cy="1141730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9829800" y="4037330"/>
            <a:ext cx="20974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600" b="1" u="sng">
                <a:solidFill>
                  <a:schemeClr val="bg1"/>
                </a:solidFill>
              </a:rPr>
              <a:t>Hidden Path</a:t>
            </a:r>
            <a:endParaRPr lang="en-IN" altLang="en-US" sz="2600" b="1" u="sng">
              <a:solidFill>
                <a:schemeClr val="bg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9906000" y="4050030"/>
            <a:ext cx="1892300" cy="2242820"/>
          </a:xfrm>
          <a:prstGeom prst="rect">
            <a:avLst/>
          </a:prstGeom>
          <a:noFill/>
          <a:ln w="19050">
            <a:solidFill>
              <a:schemeClr val="bg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10000615" y="5833110"/>
            <a:ext cx="179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chemeClr val="bg1"/>
                </a:solidFill>
                <a:sym typeface="+mn-ea"/>
              </a:rPr>
              <a:t>ar18sh24.exe</a:t>
            </a:r>
            <a:endParaRPr lang="en-IN" altLang="en-US" b="1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42" name="Straight Arrow Connector 41"/>
          <p:cNvCxnSpPr>
            <a:stCxn id="32" idx="2"/>
            <a:endCxn id="29" idx="0"/>
          </p:cNvCxnSpPr>
          <p:nvPr/>
        </p:nvCxnSpPr>
        <p:spPr>
          <a:xfrm>
            <a:off x="10805160" y="2418715"/>
            <a:ext cx="46990" cy="163131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Text Box 42"/>
          <p:cNvSpPr txBox="1"/>
          <p:nvPr/>
        </p:nvSpPr>
        <p:spPr>
          <a:xfrm>
            <a:off x="9460230" y="2806700"/>
            <a:ext cx="1449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b="1">
                <a:solidFill>
                  <a:schemeClr val="bg1"/>
                </a:solidFill>
              </a:rPr>
              <a:t>Rename and Move</a:t>
            </a:r>
            <a:endParaRPr lang="en-IN" altLang="en-US" b="1">
              <a:solidFill>
                <a:schemeClr val="bg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H="1" flipV="1">
            <a:off x="8138160" y="5467350"/>
            <a:ext cx="1767840" cy="190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Text Box 47"/>
          <p:cNvSpPr txBox="1"/>
          <p:nvPr/>
        </p:nvSpPr>
        <p:spPr>
          <a:xfrm>
            <a:off x="8216265" y="5114290"/>
            <a:ext cx="1731010" cy="439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>
                <a:solidFill>
                  <a:schemeClr val="bg1"/>
                </a:solidFill>
                <a:sym typeface="+mn-ea"/>
              </a:rPr>
              <a:t>H(ar18sh24.exe)</a:t>
            </a:r>
            <a:endParaRPr lang="en-IN" altLang="en-US" b="1">
              <a:solidFill>
                <a:schemeClr val="bg1"/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667375" y="3048000"/>
            <a:ext cx="2322830" cy="1523365"/>
            <a:chOff x="-240" y="4846"/>
            <a:chExt cx="3658" cy="2399"/>
          </a:xfrm>
        </p:grpSpPr>
        <p:pic>
          <p:nvPicPr>
            <p:cNvPr id="50" name="Picture 49" descr="C:/Users/Abdul/Downloads/image (1).pngimage (1)"/>
            <p:cNvPicPr>
              <a:picLocks noChangeAspect="1"/>
            </p:cNvPicPr>
            <p:nvPr/>
          </p:nvPicPr>
          <p:blipFill>
            <a:blip r:embed="rId5"/>
            <a:srcRect l="2370" r="2370"/>
            <a:stretch>
              <a:fillRect/>
            </a:stretch>
          </p:blipFill>
          <p:spPr>
            <a:xfrm>
              <a:off x="675" y="4846"/>
              <a:ext cx="1689" cy="1772"/>
            </a:xfrm>
            <a:prstGeom prst="rect">
              <a:avLst/>
            </a:prstGeom>
          </p:spPr>
        </p:pic>
        <p:sp>
          <p:nvSpPr>
            <p:cNvPr id="51" name="Text Box 50"/>
            <p:cNvSpPr txBox="1"/>
            <p:nvPr/>
          </p:nvSpPr>
          <p:spPr>
            <a:xfrm>
              <a:off x="-240" y="6665"/>
              <a:ext cx="365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IN" altLang="en-US" b="1">
                  <a:solidFill>
                    <a:schemeClr val="bg1"/>
                  </a:solidFill>
                </a:rPr>
                <a:t>privacy.docx.lnk</a:t>
              </a:r>
              <a:endParaRPr lang="en-IN" altLang="en-US" b="1">
                <a:solidFill>
                  <a:schemeClr val="bg1"/>
                </a:solidFill>
              </a:endParaRPr>
            </a:p>
          </p:txBody>
        </p:sp>
      </p:grpSp>
      <p:sp>
        <p:nvSpPr>
          <p:cNvPr id="53" name="Rectangles 52"/>
          <p:cNvSpPr/>
          <p:nvPr/>
        </p:nvSpPr>
        <p:spPr>
          <a:xfrm>
            <a:off x="7778115" y="677545"/>
            <a:ext cx="1216660" cy="18923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bg1"/>
                </a:solidFill>
              </a:rPr>
              <a:t> Decrypt DB </a:t>
            </a:r>
            <a:endParaRPr lang="en-US" altLang="en-US" sz="2000" b="1">
              <a:solidFill>
                <a:schemeClr val="bg1"/>
              </a:solidFill>
            </a:endParaRPr>
          </a:p>
          <a:p>
            <a:pPr algn="ctr"/>
            <a:r>
              <a:rPr lang="en-IN" altLang="en-US" sz="2000" b="1">
                <a:solidFill>
                  <a:schemeClr val="bg1"/>
                </a:solidFill>
              </a:rPr>
              <a:t>&amp;</a:t>
            </a:r>
            <a:r>
              <a:rPr lang="en-US" altLang="en-US" sz="2000" b="1">
                <a:solidFill>
                  <a:schemeClr val="bg1"/>
                </a:solidFill>
              </a:rPr>
              <a:t> Resolve hidden path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3001645" y="4724400"/>
            <a:ext cx="2096770" cy="163957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Update mapping &amp; hash tables</a:t>
            </a:r>
            <a:endParaRPr lang="en-US" altLang="en-US" sz="2400" b="1">
              <a:solidFill>
                <a:schemeClr val="bg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228600" y="4724400"/>
            <a:ext cx="2096770" cy="163957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400" b="1">
                <a:solidFill>
                  <a:schemeClr val="bg1"/>
                </a:solidFill>
              </a:rPr>
              <a:t>Show "Paste Successful"</a:t>
            </a:r>
            <a:r>
              <a:rPr lang="en-IN" altLang="en-US" sz="2400" b="1">
                <a:solidFill>
                  <a:schemeClr val="bg1"/>
                </a:solidFill>
              </a:rPr>
              <a:t> Toast</a:t>
            </a:r>
            <a:endParaRPr lang="en-IN" altLang="en-US" sz="2400" b="1">
              <a:solidFill>
                <a:schemeClr val="bg1"/>
              </a:solidFill>
            </a:endParaRPr>
          </a:p>
        </p:txBody>
      </p:sp>
      <p:cxnSp>
        <p:nvCxnSpPr>
          <p:cNvPr id="56" name="Straight Arrow Connector 55"/>
          <p:cNvCxnSpPr>
            <a:stCxn id="54" idx="1"/>
            <a:endCxn id="55" idx="3"/>
          </p:cNvCxnSpPr>
          <p:nvPr/>
        </p:nvCxnSpPr>
        <p:spPr>
          <a:xfrm flipH="1">
            <a:off x="2325370" y="5544185"/>
            <a:ext cx="676275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13" idx="3"/>
          </p:cNvCxnSpPr>
          <p:nvPr/>
        </p:nvCxnSpPr>
        <p:spPr>
          <a:xfrm>
            <a:off x="7112635" y="1831340"/>
            <a:ext cx="659765" cy="1016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Circular Arrow 59"/>
          <p:cNvSpPr/>
          <p:nvPr/>
        </p:nvSpPr>
        <p:spPr>
          <a:xfrm rot="11280000">
            <a:off x="2998470" y="1209040"/>
            <a:ext cx="4023360" cy="3167380"/>
          </a:xfrm>
          <a:prstGeom prst="circularArrow">
            <a:avLst>
              <a:gd name="adj1" fmla="val 12500"/>
              <a:gd name="adj2" fmla="val 1046443"/>
              <a:gd name="adj3" fmla="val 20457681"/>
              <a:gd name="adj4" fmla="val 12850547"/>
              <a:gd name="adj5" fmla="val 11864"/>
            </a:avLst>
          </a:prstGeom>
          <a:solidFill>
            <a:schemeClr val="bg1">
              <a:alpha val="82000"/>
            </a:schemeClr>
          </a:solidFill>
          <a:ln w="28575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5965190" y="5149215"/>
            <a:ext cx="2216785" cy="100203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bg1"/>
                </a:solidFill>
                <a:sym typeface="+mn-ea"/>
              </a:rPr>
              <a:t>Create .lnk</a:t>
            </a:r>
            <a:endParaRPr lang="en-US" altLang="en-US" sz="2000" b="1">
              <a:solidFill>
                <a:schemeClr val="bg1"/>
              </a:solidFill>
              <a:sym typeface="+mn-ea"/>
            </a:endParaRPr>
          </a:p>
          <a:p>
            <a:pPr algn="ctr"/>
            <a:r>
              <a:rPr lang="en-US" altLang="en-US" sz="2000" b="1">
                <a:solidFill>
                  <a:schemeClr val="bg1"/>
                </a:solidFill>
              </a:rPr>
              <a:t>with new hash arg</a:t>
            </a:r>
            <a:endParaRPr lang="en-US" altLang="en-US" sz="2000" b="1">
              <a:solidFill>
                <a:schemeClr val="bg1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5039360" y="5715000"/>
            <a:ext cx="904240" cy="635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3845560" y="1499235"/>
            <a:ext cx="91884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b="1">
                <a:solidFill>
                  <a:schemeClr val="bg1"/>
                </a:solidFill>
                <a:sym typeface="+mn-ea"/>
              </a:rPr>
              <a:t>Detect</a:t>
            </a:r>
            <a:endParaRPr lang="en-IN" altLang="en-US" b="1">
              <a:solidFill>
                <a:schemeClr val="bg1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 flipH="1" flipV="1">
            <a:off x="6834505" y="4504055"/>
            <a:ext cx="23495" cy="601345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Text Box 64"/>
          <p:cNvSpPr txBox="1"/>
          <p:nvPr/>
        </p:nvSpPr>
        <p:spPr>
          <a:xfrm>
            <a:off x="9065260" y="952500"/>
            <a:ext cx="916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1500" b="1">
                <a:solidFill>
                  <a:schemeClr val="bg1"/>
                </a:solidFill>
              </a:rPr>
              <a:t>Copy file to Temp</a:t>
            </a:r>
            <a:endParaRPr lang="en-IN" altLang="en-US" sz="1500" b="1">
              <a:solidFill>
                <a:schemeClr val="bg1"/>
              </a:solidFill>
            </a:endParaRPr>
          </a:p>
        </p:txBody>
      </p:sp>
      <p:sp>
        <p:nvSpPr>
          <p:cNvPr id="66" name="Text Box 65"/>
          <p:cNvSpPr txBox="1"/>
          <p:nvPr/>
        </p:nvSpPr>
        <p:spPr>
          <a:xfrm>
            <a:off x="4784090" y="757555"/>
            <a:ext cx="2395220" cy="48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b="1">
                <a:solidFill>
                  <a:schemeClr val="bg1"/>
                </a:solidFill>
              </a:rPr>
              <a:t>[Background Service]</a:t>
            </a:r>
            <a:endParaRPr lang="en-US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WPS Presentation</Application>
  <PresentationFormat>On-screen Show (4:3)</PresentationFormat>
  <Paragraphs>71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SimSun</vt:lpstr>
      <vt:lpstr>Wingdings</vt:lpstr>
      <vt:lpstr>Bahnschrift</vt:lpstr>
      <vt:lpstr>Lucida Sans Unicode</vt:lpstr>
      <vt:lpstr>Trebuchet MS</vt:lpstr>
      <vt:lpstr>Times New Roman</vt:lpstr>
      <vt:lpstr>Imprint MT Shadow</vt:lpstr>
      <vt:lpstr>High Tower Text</vt:lpstr>
      <vt:lpstr>Wingdings</vt:lpstr>
      <vt:lpstr>Amiri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MOHAMMED ABDUL RAQEEB</cp:lastModifiedBy>
  <cp:revision>278</cp:revision>
  <dcterms:created xsi:type="dcterms:W3CDTF">2024-03-04T20:57:00Z</dcterms:created>
  <dcterms:modified xsi:type="dcterms:W3CDTF">2025-08-01T00:39:46Z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2024-03-01T12:00:00Z</vt:filetime>
  </property>
  <property fmtid="{D5CDD505-2E9C-101B-9397-08002B2CF9AE}" pid="3" name="LastSaved">
    <vt:filetime>2024-03-09T12:00:00Z</vt:filetime>
  </property>
  <property fmtid="{D5CDD505-2E9C-101B-9397-08002B2CF9AE}" pid="4" name="ICV">
    <vt:lpwstr>EE58AF2E7632465B8A7CC2401ED37259_13</vt:lpwstr>
  </property>
  <property fmtid="{D5CDD505-2E9C-101B-9397-08002B2CF9AE}" pid="5" name="KSOProductBuildVer">
    <vt:lpwstr>1033-12.2.0.21931</vt:lpwstr>
  </property>
</Properties>
</file>